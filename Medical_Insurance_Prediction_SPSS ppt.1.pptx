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96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6E270-1A95-B4C8-68A6-0854734DD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91266D-34B5-F85F-5170-B1CB1CCF9D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4547E0-9C89-408D-28E1-220DA732B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FAA75-0EA3-AA86-5FB7-0D374E6CF3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791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Insurance Cost Prediction</a:t>
            </a:r>
            <a:endParaRPr lang="en-US" sz="3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Regression in IBM SPSS Modeler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Machine Learning Regression Project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2743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Achyut Kumar Pathak  |  Mousumi Guin  |  Arya Singh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Insurance Cost Prediction | IBM SPSS Modeler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097280"/>
            <a:ext cx="54864" cy="100584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0700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11704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Achyut Kumar Pathak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8640" y="1554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design, SPSS workflow development, model building, and analysis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2286000"/>
            <a:ext cx="8412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65760" y="2286000"/>
            <a:ext cx="54864" cy="100584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39572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23591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Mousumi Guin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preparation, node configuration, and dataset interpretation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65760" y="3474720"/>
            <a:ext cx="8412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365760" y="3474720"/>
            <a:ext cx="54864" cy="100584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584448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35478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 Singh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preparation, result explanation, and project documentation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Insurance Cost Prediction | IBM SPSS Modeler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predicts medical insurance charges using regression analysis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built using IBM SPSS Modeler — a visual data mining tool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variable: "charges" (medical insurance cost)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Estimate insurance cost based on a person's demographic and health profile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includes both demographic and health-related variables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insurance pricing, risk assessment, and cost forecasting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Used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Insurance Cost Prediction | IBM SPSS Modeler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Insurance Cost Prediction Dataset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9260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 of the insured person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Nominal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Gender (male/female)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bmi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Body Mass Index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children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 of dependents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smoker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Nominal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Smoking status (yes/no)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Nominal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Geographic region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Continuous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74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Insurance cost (to be predicted)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regression problem because the target is continuous numeric data.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Regression is Used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Insurance Cost Prediction | IBM SPSS Modeler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 variable "charges" contains continuous numeric values (e.g., $1,725 to $63,770)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is the appropriate ML technique when predicting a numerical amount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learns the mathematical relationship between input features and charges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45-year-old male smoker with BMI 30 → Predicted charge: ~$39,611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19-year-old female non-smoker with BMI 28 → Predicted charge: ~$1,837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helps insurance companies estimate expected cost for any customer profile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SPSS Modeler Stream Overview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Insurance Cost Prediction | IBM SPSS Modeler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Workflow Pipeline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74320" y="164592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74320" y="1645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insurance.csv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554480" y="1874520"/>
            <a:ext cx="27432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828800" y="164592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828800" y="1645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08960" y="1874520"/>
            <a:ext cx="274320" cy="0"/>
          </a:xfrm>
          <a:prstGeom prst="line">
            <a:avLst/>
          </a:prstGeom>
          <a:noFill/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383280" y="164592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7432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Branch (80%)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2651760"/>
            <a:ext cx="128016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7432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554480" y="2880360"/>
            <a:ext cx="274320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828800" y="2651760"/>
            <a:ext cx="128016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82880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108960" y="2880360"/>
            <a:ext cx="274320" cy="0"/>
          </a:xfrm>
          <a:prstGeom prst="line">
            <a:avLst/>
          </a:prstGeom>
          <a:noFill/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383280" y="2651760"/>
            <a:ext cx="128016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38328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5488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Branch (20%)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754880" y="2651760"/>
            <a:ext cx="128016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75488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035040" y="2880360"/>
            <a:ext cx="2743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309360" y="2651760"/>
            <a:ext cx="128016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30936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589520" y="2880360"/>
            <a:ext cx="2743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7863840" y="2651760"/>
            <a:ext cx="128016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86384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Nugget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754880" y="3291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754880" y="3657600"/>
            <a:ext cx="1280160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754880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035040" y="3886200"/>
            <a:ext cx="27432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6309360" y="3657600"/>
            <a:ext cx="1280160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309360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is split into 80% training and 20% testing for model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08EBC7-6ED4-5EEB-EA05-8C2C76F5D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6C28BD-CC82-730F-0A88-4649C9D5E31D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6CF917D-4DD1-D8B8-B32B-C11F26061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"/>
            <a:ext cx="502920" cy="50292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6CAC6EA-5631-51D9-0CD0-765864206ABD}"/>
              </a:ext>
            </a:extLst>
          </p:cNvPr>
          <p:cNvSpPr/>
          <p:nvPr/>
        </p:nvSpPr>
        <p:spPr>
          <a:xfrm>
            <a:off x="96012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SPSS Modeler Stream </a:t>
            </a:r>
            <a:endParaRPr lang="en-US" sz="24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6C6CFEA-37C8-8DAA-379F-FEB8D06DEB6A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390C0C0-B3E5-6B87-595B-D6D78B8D733D}"/>
              </a:ext>
            </a:extLst>
          </p:cNvPr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Insurance Cost Prediction | IBM SPSS Modeler</a:t>
            </a:r>
            <a:endParaRPr lang="en-US" sz="9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BE15BCA-4F4D-CDC4-F53B-09CA6CA417AC}"/>
              </a:ext>
            </a:extLst>
          </p:cNvPr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C563EE2-71F3-EEA4-4FF4-4BABD8A58696}"/>
              </a:ext>
            </a:extLst>
          </p:cNvPr>
          <p:cNvSpPr/>
          <p:nvPr/>
        </p:nvSpPr>
        <p:spPr>
          <a:xfrm>
            <a:off x="274320" y="1645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9289C34-B6D0-5312-B520-D74895AE6561}"/>
              </a:ext>
            </a:extLst>
          </p:cNvPr>
          <p:cNvSpPr/>
          <p:nvPr/>
        </p:nvSpPr>
        <p:spPr>
          <a:xfrm>
            <a:off x="1828800" y="1645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4F3FDAA-299A-442F-F960-9DD2E9589A1D}"/>
              </a:ext>
            </a:extLst>
          </p:cNvPr>
          <p:cNvSpPr/>
          <p:nvPr/>
        </p:nvSpPr>
        <p:spPr>
          <a:xfrm>
            <a:off x="3383280" y="1645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E208433-00FC-479A-DD17-88F5CDBBFAF3}"/>
              </a:ext>
            </a:extLst>
          </p:cNvPr>
          <p:cNvSpPr/>
          <p:nvPr/>
        </p:nvSpPr>
        <p:spPr>
          <a:xfrm>
            <a:off x="27432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DDA9532-39AD-555D-F349-A4F634C7E07D}"/>
              </a:ext>
            </a:extLst>
          </p:cNvPr>
          <p:cNvSpPr/>
          <p:nvPr/>
        </p:nvSpPr>
        <p:spPr>
          <a:xfrm>
            <a:off x="27432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7265DE7-7D75-C6A9-C5EC-C9AD1CCB5BDC}"/>
              </a:ext>
            </a:extLst>
          </p:cNvPr>
          <p:cNvSpPr/>
          <p:nvPr/>
        </p:nvSpPr>
        <p:spPr>
          <a:xfrm>
            <a:off x="182880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D962A408-9BA6-02C7-78E2-E47F9FAEBE3C}"/>
              </a:ext>
            </a:extLst>
          </p:cNvPr>
          <p:cNvSpPr/>
          <p:nvPr/>
        </p:nvSpPr>
        <p:spPr>
          <a:xfrm>
            <a:off x="338328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D921B72C-477B-EB4F-2642-D22161E5EC14}"/>
              </a:ext>
            </a:extLst>
          </p:cNvPr>
          <p:cNvSpPr/>
          <p:nvPr/>
        </p:nvSpPr>
        <p:spPr>
          <a:xfrm>
            <a:off x="475488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E5DCA4BF-F8C8-0533-39C1-05F4CBFC2F94}"/>
              </a:ext>
            </a:extLst>
          </p:cNvPr>
          <p:cNvSpPr/>
          <p:nvPr/>
        </p:nvSpPr>
        <p:spPr>
          <a:xfrm>
            <a:off x="630936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823815F6-15BD-6E0F-6778-EEDB314C490D}"/>
              </a:ext>
            </a:extLst>
          </p:cNvPr>
          <p:cNvSpPr/>
          <p:nvPr/>
        </p:nvSpPr>
        <p:spPr>
          <a:xfrm>
            <a:off x="786384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9B3B13FC-A05B-6629-DA12-D94CB2AFCC43}"/>
              </a:ext>
            </a:extLst>
          </p:cNvPr>
          <p:cNvSpPr/>
          <p:nvPr/>
        </p:nvSpPr>
        <p:spPr>
          <a:xfrm>
            <a:off x="4754880" y="3291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AC0C3B1F-5BC4-5830-0408-E9E4B22F8257}"/>
              </a:ext>
            </a:extLst>
          </p:cNvPr>
          <p:cNvSpPr/>
          <p:nvPr/>
        </p:nvSpPr>
        <p:spPr>
          <a:xfrm>
            <a:off x="4754880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FB9C3413-DD1D-7C86-44F8-6FD7BA7E7CF9}"/>
              </a:ext>
            </a:extLst>
          </p:cNvPr>
          <p:cNvSpPr/>
          <p:nvPr/>
        </p:nvSpPr>
        <p:spPr>
          <a:xfrm>
            <a:off x="6309360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561314BA-E24B-9B7E-D7E2-4F95FC9494B8}"/>
              </a:ext>
            </a:extLst>
          </p:cNvPr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FAA2A4-14FE-A425-3D86-1DEB58EAF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09596"/>
            <a:ext cx="9144000" cy="406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799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89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6351" y="91440"/>
            <a:ext cx="803616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Nodes: Source Node, Data Audit Node &amp;Type Node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Insurance Cost Prediction | IBM SPSS Modeler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97067" y="1143000"/>
            <a:ext cx="2786810" cy="33859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6211" y="1143000"/>
            <a:ext cx="45719" cy="3385948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90844" y="1220372"/>
            <a:ext cx="2025748" cy="439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1: Source Node (insurance.csv)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25084" y="1659988"/>
            <a:ext cx="2553286" cy="27291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Imports the insurance dataset into SPSS Modeler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point of the entire data stream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all 7 fields from the CSV file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raw data for all downstream processing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transformations applied at this stage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40540" y="1143000"/>
            <a:ext cx="2632066" cy="33859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6448384" y="1143000"/>
            <a:ext cx="54864" cy="3385948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7010535" y="1220373"/>
            <a:ext cx="1721983" cy="242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3: Type Node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576646" y="1463041"/>
            <a:ext cx="2342271" cy="29260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00" dirty="0">
              <a:solidFill>
                <a:srgbClr val="1E293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data types and roles for all columns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age, bmi, children → Continuous / Input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sex, smoker, region → Nominal / Input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charges → Continuous / Target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 most critical preprocessing steps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9D28BE3-E146-9430-F93A-968B50F01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954" y="1232681"/>
            <a:ext cx="336191" cy="3409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8DDEA98-4C0E-30E3-37CA-2A2FF12D17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7714" y="1220373"/>
            <a:ext cx="346716" cy="329575"/>
          </a:xfrm>
          <a:prstGeom prst="rect">
            <a:avLst/>
          </a:prstGeom>
        </p:spPr>
      </p:pic>
      <p:sp>
        <p:nvSpPr>
          <p:cNvPr id="21" name="Shape 9">
            <a:extLst>
              <a:ext uri="{FF2B5EF4-FFF2-40B4-BE49-F238E27FC236}">
                <a16:creationId xmlns:a16="http://schemas.microsoft.com/office/drawing/2014/main" id="{1F2EFB8C-082F-E57F-230C-AD2F8B5285EB}"/>
              </a:ext>
            </a:extLst>
          </p:cNvPr>
          <p:cNvSpPr/>
          <p:nvPr/>
        </p:nvSpPr>
        <p:spPr>
          <a:xfrm>
            <a:off x="3213514" y="1143000"/>
            <a:ext cx="54864" cy="3385948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AA30183B-33F9-ABCB-DE37-CCBA908506EE}"/>
              </a:ext>
            </a:extLst>
          </p:cNvPr>
          <p:cNvSpPr/>
          <p:nvPr/>
        </p:nvSpPr>
        <p:spPr>
          <a:xfrm>
            <a:off x="3276222" y="1143000"/>
            <a:ext cx="2752825" cy="33859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F1E523-CC66-7A0A-AE80-DFC294FA3EAF}"/>
              </a:ext>
            </a:extLst>
          </p:cNvPr>
          <p:cNvSpPr txBox="1"/>
          <p:nvPr/>
        </p:nvSpPr>
        <p:spPr>
          <a:xfrm>
            <a:off x="3707071" y="1199467"/>
            <a:ext cx="2814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 2:Data Audit Node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04BB5A-08C9-337E-7880-9B72C9603147}"/>
              </a:ext>
            </a:extLst>
          </p:cNvPr>
          <p:cNvSpPr txBox="1"/>
          <p:nvPr/>
        </p:nvSpPr>
        <p:spPr>
          <a:xfrm>
            <a:off x="3341775" y="1659988"/>
            <a:ext cx="259147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Provides an overall summary of the 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Checks the quality of the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Identifies missing values, errors, and duplicate records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A60498A-E64E-5124-A886-D7A2719893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7310" y="1232681"/>
            <a:ext cx="365296" cy="3409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Nodes: </a:t>
            </a:r>
            <a:r>
              <a:rPr lang="en-US" sz="2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SetToFlag</a:t>
            </a: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Partition &amp; Select (Training)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Insurance Cost Prediction | IBM SPSS Modeler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465120" y="972605"/>
            <a:ext cx="2550980" cy="3457663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430821" y="1019557"/>
            <a:ext cx="54864" cy="3416515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3945821" y="1022421"/>
            <a:ext cx="1867303" cy="424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5: Partition Node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544247" y="1444753"/>
            <a:ext cx="2437554" cy="3035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Splits dataset into training and testing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allocated for training the model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reserved for testing/validation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model validation accuracy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overfitting on training data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Random sampling has been applied for the partition purpose 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93499" y="978408"/>
            <a:ext cx="2596475" cy="3457664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250699" y="961352"/>
            <a:ext cx="54864" cy="347472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7202658" y="1178659"/>
            <a:ext cx="1529862" cy="26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6: Select Node (Training)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654018" y="1350498"/>
            <a:ext cx="2215662" cy="30386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100" dirty="0">
              <a:solidFill>
                <a:srgbClr val="1E293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only the training partition records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the 80% training rows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records are used to train the regression model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clean separation of training data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8C8B544-E8DB-FA3D-1E3F-CDA1F99B0F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180" y="1061233"/>
            <a:ext cx="332215" cy="34184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9F6657B-B868-AFC9-0157-716C701A79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5457" y="1121406"/>
            <a:ext cx="317307" cy="396635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E5BEA182-15C0-C62D-895B-48EDD29E1301}"/>
              </a:ext>
            </a:extLst>
          </p:cNvPr>
          <p:cNvSpPr/>
          <p:nvPr/>
        </p:nvSpPr>
        <p:spPr>
          <a:xfrm>
            <a:off x="251636" y="978408"/>
            <a:ext cx="2648971" cy="34518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Node 4: </a:t>
            </a:r>
            <a:r>
              <a:rPr lang="en-US" sz="1400" b="1" dirty="0" err="1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SetToFlag</a:t>
            </a: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Node</a:t>
            </a:r>
          </a:p>
          <a:p>
            <a:endParaRPr lang="en-US" sz="1400" b="1" dirty="0">
              <a:solidFill>
                <a:srgbClr val="0A254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Transforms text categories into binary (0/1) numeric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A254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machine learning models process data effectively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0A254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Enhances accuracy and prediction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CE562C30-AA0A-7426-F9B6-A121A26A5FC1}"/>
              </a:ext>
            </a:extLst>
          </p:cNvPr>
          <p:cNvSpPr/>
          <p:nvPr/>
        </p:nvSpPr>
        <p:spPr>
          <a:xfrm>
            <a:off x="216957" y="964515"/>
            <a:ext cx="45719" cy="3465753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F579290-85C1-2ABC-3F19-F7D5682F09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636" y="978408"/>
            <a:ext cx="391336" cy="3720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7: Type (Training)  &amp;  Node 8: Regression Model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Insurance Cost Prediction | IBM SPSS Modeler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0058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1005840"/>
            <a:ext cx="54864" cy="347472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68680" y="1078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7: Type Node (Training Branch)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Reconfirms field roles in the training branch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"charges" remains the target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other variables confirmed as inputs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modeling errors before training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10058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754880" y="1005840"/>
            <a:ext cx="54864" cy="347472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5349240" y="1078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8: Regression Model Node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937760" y="14630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ML node — builds the regression model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Learns: age, sex, bmi, children, smoker, region → charges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expected insurance charges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trained model (Gold Nugget)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linear regression algorithm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D7A9F95-42C1-2034-C467-5B1A20ACB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863" y="1069848"/>
            <a:ext cx="401961" cy="4433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9F7ADBE-AE87-2674-FE25-1B3DAC25EA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4985" y="1083444"/>
            <a:ext cx="473153" cy="4161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9: Select (Testing)  &amp;  Node 10: Type (Testing)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Insurance Cost Prediction | IBM SPSS Modeler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0058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1005840"/>
            <a:ext cx="54864" cy="347472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68680" y="1078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9: Select Node (Testing)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only the 20% testing partition records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rows were NOT used during training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exclusively for validation and prediction checking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unbiased model evaluation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10058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754880" y="1005840"/>
            <a:ext cx="54864" cy="347472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5349240" y="1078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10: Type Node (Testing Branch)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937760" y="14630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correct metadata for the testing branch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consistency with training data structure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the model apply correctly on unseen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field types match expectations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81F5725-2CF1-EB62-7402-8B1580D62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803" y="1078992"/>
            <a:ext cx="352861" cy="4410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C9134E9-48AF-BFBB-B2A4-52C2761DE3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057404"/>
            <a:ext cx="419482" cy="4626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11: Model Nugget  &amp;  Node 12: Table Node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Insurance Cost Prediction | IBM SPSS Modeler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0058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1005840"/>
            <a:ext cx="54864" cy="347472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68680" y="1078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11: Model Nugget (Apply Model)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trained regression model to test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predicted values for "charges"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new column: $R-charges or $RP-charges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charges = actual cost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charges = model's estimated cost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10058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754880" y="1005840"/>
            <a:ext cx="54864" cy="347472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5349240" y="1078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12: Table Node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937760" y="14630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Displays final output in tabular format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actual vs predicted charges side by side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compare prediction accuracy visually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node for result verification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050E686-00EF-FCED-8F16-C1F200F94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875" y="1078992"/>
            <a:ext cx="369233" cy="41958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BA9A46B-DF43-9C9E-F661-072842162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1033252"/>
            <a:ext cx="515746" cy="4297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13: Analysis  &amp;  Understanding Predictions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Insurance Cost Prediction | IBM SPSS Modeler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0058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1005840"/>
            <a:ext cx="54864" cy="347472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68680" y="1078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13: Analysis Node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regression model performance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error comparison and residual analysis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accuracy of prediction trend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model fit insights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for understanding model quality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10058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754880" y="1005840"/>
            <a:ext cx="54864" cy="347472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11556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49240" y="1078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Predicted Column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937760" y="146304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creates a new predicted field for charges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age, BMI, smoking status etc. for estimation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charges = real insurance amount in dataset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charges = model's estimated amount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validates model effectiveness</a:t>
            </a:r>
            <a:endParaRPr lang="en-US" sz="11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F687D9C-3C8C-ACD8-367F-7DD309B85C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055056"/>
            <a:ext cx="365760" cy="4410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Output Result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Insurance Cost Prediction | IBM SPSS Modeler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051560"/>
            <a:ext cx="8229600" cy="35661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SPSS Modeler Output: Actual charges vs Predicted charges ($E-charges) with Partition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Derived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Insurance Cost Prediction | IBM SPSS Modeler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65760" y="105156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051560"/>
            <a:ext cx="54864" cy="77724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097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Smokers Pay More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Smokers generally have significantly higher insurance charges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201168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65760" y="2011680"/>
            <a:ext cx="54864" cy="77724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" y="2057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 Impact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4360" y="2377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BMI increases medical risk and insurance cost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297180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65760" y="297180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4360" y="3017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Factor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94360" y="3337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age tends to increase insurance charges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65760" y="393192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94360" y="3977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Predictors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9436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and numeric variables together improve prediction quality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Use of This Model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Insurance Cost Prediction | IBM SPSS Modeler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companies can estimate expected medical cost for new customers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in pricing insurance policies accurately based on customer risk profile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customer risk analysis and categorization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Aids premium estimation and financial planning decisions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integrated into automated insurance quoting systems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data-driven insights for underwriting processes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4A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Insurance Cost Prediction | IBM SPSS Modeler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Successfully demonstrated regression-based cost prediction in IBM SPSS Modeler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trained on 80% data and validated on 20% testing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SPSS nodes (Type, Partition, Select, Regression, Table, Analysis) used effectively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generated predicted insurance charges based on user profile attributes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is the appropriate technique for continuous target prediction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is a practical example of ML for real-world cost estimation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286000"/>
            <a:ext cx="2743200" cy="2743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Insurance Cost Prediction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Regression in IBM SPSS Modeler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Achyut Kumar Pathak  |  Mousumi Guin  |  Arya Singh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1272</Words>
  <Application>Microsoft Office PowerPoint</Application>
  <PresentationFormat>On-screen Show (16:9)</PresentationFormat>
  <Paragraphs>228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Insurance Cost Prediction using Regression in IBM SPSS Modeler</dc:title>
  <dc:subject>PptxGenJS Presentation</dc:subject>
  <dc:creator>Achyut Kumar Pathak</dc:creator>
  <cp:lastModifiedBy>mousumi guin</cp:lastModifiedBy>
  <cp:revision>5</cp:revision>
  <dcterms:created xsi:type="dcterms:W3CDTF">2026-04-05T03:30:44Z</dcterms:created>
  <dcterms:modified xsi:type="dcterms:W3CDTF">2026-06-06T13:22:41Z</dcterms:modified>
</cp:coreProperties>
</file>